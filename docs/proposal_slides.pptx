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ba47fc8b1e4d5c" /><Relationship Type="http://schemas.openxmlformats.org/officeDocument/2006/relationships/extended-properties" Target="/docProps/app.xml" Id="Rbb44fe0128c740b1" /><Relationship Type="http://schemas.openxmlformats.org/officeDocument/2006/relationships/officeDocument" Target="/ppt/presentation.xml" Id="R99bbad5f531241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2e6380f6e54b84"/>
  </p:sldMasterIdLst>
  <p:notesMasterIdLst>
    <p:notesMasterId xmlns:r="http://schemas.openxmlformats.org/officeDocument/2006/relationships" r:id="Rb259ccf7b1a545ca"/>
  </p:notesMasterIdLst>
  <p:sldIdLst>
    <p:sldId xmlns:r="http://schemas.openxmlformats.org/officeDocument/2006/relationships" id="256" r:id="Rac0039d02b0d4844"/>
    <p:sldId xmlns:r="http://schemas.openxmlformats.org/officeDocument/2006/relationships" id="257" r:id="R9b72cd17c3104e88"/>
    <p:sldId xmlns:r="http://schemas.openxmlformats.org/officeDocument/2006/relationships" id="258" r:id="R61a3566d99674121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c405f866b34bdd" /><Relationship Type="http://schemas.openxmlformats.org/officeDocument/2006/relationships/slideMaster" Target="/ppt/slideMasters/slideMaster1.xml" Id="Rd92e6380f6e54b84" /><Relationship Type="http://schemas.openxmlformats.org/officeDocument/2006/relationships/notesMaster" Target="/ppt/notesMasters/notesMaster1.xml" Id="Rb259ccf7b1a545ca" /><Relationship Type="http://schemas.openxmlformats.org/officeDocument/2006/relationships/presProps" Target="/ppt/presProps.xml" Id="Rffbc346115324593" /><Relationship Type="http://schemas.openxmlformats.org/officeDocument/2006/relationships/tableStyles" Target="/ppt/tableStyles.xml" Id="R74c624e727e440db" /><Relationship Type="http://schemas.openxmlformats.org/officeDocument/2006/relationships/slide" Target="/ppt/slides/slide1.xml" Id="Rac0039d02b0d4844" /><Relationship Type="http://schemas.openxmlformats.org/officeDocument/2006/relationships/slide" Target="/ppt/slides/slide2.xml" Id="R9b72cd17c3104e88" /><Relationship Type="http://schemas.openxmlformats.org/officeDocument/2006/relationships/slide" Target="/ppt/slides/slide3.xml" Id="R61a3566d996741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25c854ad9b41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a6ad8b25cf4852" /><Relationship Type="http://schemas.openxmlformats.org/officeDocument/2006/relationships/notesMaster" Target="/ppt/notesMasters/notesMaster1.xml" Id="Rc408d46e6a9d4b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52e22cbacd4c59" /><Relationship Type="http://schemas.openxmlformats.org/officeDocument/2006/relationships/notesMaster" Target="/ppt/notesMasters/notesMaster1.xml" Id="R191b60ffcfbe4a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a2381b8bca4ded" /><Relationship Type="http://schemas.openxmlformats.org/officeDocument/2006/relationships/notesMaster" Target="/ppt/notesMasters/notesMaster1.xml" Id="R5b6f0085e82047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6c7b4bf86c4b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d70848a8584951" /><Relationship Type="http://schemas.openxmlformats.org/officeDocument/2006/relationships/slideLayout" Target="/ppt/slideLayouts/slideLayout1.xml" Id="R4dd2f97a657747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d2f97a657747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0ee5c46134d94" /><Relationship Type="http://schemas.openxmlformats.org/officeDocument/2006/relationships/notesSlide" Target="/ppt/notesSlides/notesSlide1.xml" Id="Re1300517d8d740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3c7918cb94015" /><Relationship Type="http://schemas.openxmlformats.org/officeDocument/2006/relationships/notesSlide" Target="/ppt/notesSlides/notesSlide2.xml" Id="Raefd5e91504648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3d7891eb74a8d" /><Relationship Type="http://schemas.openxmlformats.org/officeDocument/2006/relationships/notesSlide" Target="/ppt/notesSlides/notesSlide3.xml" Id="R9699afe1e8824d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90D4E688-9551-4C9A-8629-FB54746A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9892"/>
            <a:ext cx="5647525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2850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Metastability measurement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68442-D57B-4D0A-A8DB-1084525E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82434"/>
            <a:ext cx="3280734" cy="235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GF180MCU · ECE 298A · Tiny Tapeout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4AE64D-EF17-48BD-B4FF-00EE5D13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09725"/>
            <a:ext cx="16764000" cy="9525"/>
          </a:xfrm>
          <a:custGeom xmlns:a="http://schemas.openxmlformats.org/drawingml/2006/main">
            <a:pathLst>
              <a:path w="16764000" h="9525">
                <a:moveTo>
                  <a:pt x="0" y="0"/>
                </a:moveTo>
                <a:lnTo>
                  <a:pt x="1676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DBDB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DA8C9-E6F5-4002-AE20-86FFFB56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62200"/>
            <a:ext cx="7191375" cy="5334000"/>
          </a:xfrm>
          <a:custGeom xmlns:a="http://schemas.openxmlformats.org/drawingml/2006/main">
            <a:pathLst>
              <a:path w="7191375" h="5334000">
                <a:moveTo>
                  <a:pt x="476250" y="5334000"/>
                </a:moveTo>
                <a:lnTo>
                  <a:pt x="0" y="5334000"/>
                </a:lnTo>
                <a:lnTo>
                  <a:pt x="0" y="0"/>
                </a:lnTo>
                <a:lnTo>
                  <a:pt x="7191375" y="0"/>
                </a:lnTo>
                <a:lnTo>
                  <a:pt x="7191375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80963">
            <a:solidFill>
              <a:srgbClr val="FAFAF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2A1CA4-7455-4B5C-8312-BA4265A9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62200"/>
            <a:ext cx="7191375" cy="5334000"/>
          </a:xfrm>
          <a:custGeom xmlns:a="http://schemas.openxmlformats.org/drawingml/2006/main">
            <a:pathLst>
              <a:path w="7191375" h="5334000">
                <a:moveTo>
                  <a:pt x="476250" y="5334000"/>
                </a:moveTo>
                <a:lnTo>
                  <a:pt x="0" y="5334000"/>
                </a:lnTo>
                <a:lnTo>
                  <a:pt x="0" y="0"/>
                </a:lnTo>
                <a:lnTo>
                  <a:pt x="7191375" y="0"/>
                </a:lnTo>
                <a:lnTo>
                  <a:pt x="7191375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77777"/>
            </a:solidFill>
            <a:prstDash val="dash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B3EA6-FB8E-4A17-91A7-5B8400B5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09850"/>
            <a:ext cx="190500" cy="171450"/>
          </a:xfrm>
          <a:custGeom xmlns:a="http://schemas.openxmlformats.org/drawingml/2006/main">
            <a:pathLst>
              <a:path w="190500" h="171450">
                <a:moveTo>
                  <a:pt x="95250" y="171450"/>
                </a:moveTo>
                <a:lnTo>
                  <a:pt x="0" y="0"/>
                </a:lnTo>
                <a:lnTo>
                  <a:pt x="190500" y="0"/>
                </a:lnTo>
                <a:lnTo>
                  <a:pt x="95250" y="171450"/>
                </a:lnTo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77BDB-D2BE-45DA-BFDA-BC795677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14169"/>
            <a:ext cx="215615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777777"/>
                </a:solidFill>
                <a:latin typeface="Nimbus Sans"/>
                <a:ea typeface="Nimbus Sans"/>
                <a:cs typeface="Nimbus Sans"/>
              </a:rPr>
              <a:t>Late clocks · +50 ns / +100 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4BF531-4669-42DC-A6CC-423E46DB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09875"/>
            <a:ext cx="2428875" cy="2886075"/>
          </a:xfrm>
          <a:prstGeom xmlns:a="http://schemas.openxmlformats.org/drawingml/2006/main" prst="roundRect">
            <a:avLst>
              <a:gd name="adj" fmla="val 1176"/>
            </a:avLst>
          </a:prstGeom>
          <a:solidFill xmlns:a="http://schemas.openxmlformats.org/drawingml/2006/main">
            <a:srgbClr val="EEEEEE"/>
          </a:solidFill>
          <a:ln xmlns:a="http://schemas.openxmlformats.org/drawingml/2006/main" w="15240">
            <a:solidFill>
              <a:srgbClr val="BDBDB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D0820-E468-4E77-810E-5B4A7AD3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4277"/>
            <a:ext cx="1847212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Asynchronous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1741B7-1D5C-43CE-B159-3FDDAE72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09950"/>
            <a:ext cx="1238250" cy="695325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4C4C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1F6B3B-24E0-4219-9168-FD2BA5A6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507" y="3560826"/>
            <a:ext cx="972636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Ring oscillator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59CF70-E1BB-4770-A62E-524709D3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385" y="3781044"/>
            <a:ext cx="798881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31 stages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F8CC2-2984-4DFD-83FC-3CD5479D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09950"/>
            <a:ext cx="466725" cy="695325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4C4C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58F86E-371A-41A3-AF90-D7EFBA8A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449" y="3623691"/>
            <a:ext cx="393802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E3636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AE3636"/>
                </a:solidFill>
                <a:latin typeface="Nimbus Sans"/>
                <a:ea typeface="Nimbus Sans"/>
                <a:cs typeface="Nimbus Sans"/>
              </a:rPr>
              <a:t>÷4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E94514-DF71-4172-9C5E-6B6B5CFE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62375"/>
            <a:ext cx="285750" cy="9525"/>
          </a:xfrm>
          <a:custGeom xmlns:a="http://schemas.openxmlformats.org/drawingml/2006/main"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9058">
            <a:solidFill>
              <a:srgbClr val="FAFAF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E6419D-9099-4324-BCCB-BBCC62DB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62375"/>
            <a:ext cx="285750" cy="9525"/>
          </a:xfrm>
          <a:custGeom xmlns:a="http://schemas.openxmlformats.org/drawingml/2006/main"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AE363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441E47-FCD8-4695-8E3A-EBC0B756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966" y="3674745"/>
            <a:ext cx="157734" cy="175260"/>
          </a:xfrm>
          <a:custGeom xmlns:a="http://schemas.openxmlformats.org/drawingml/2006/main">
            <a:pathLst>
              <a:path w="157734" h="175260">
                <a:moveTo>
                  <a:pt x="157734" y="87630"/>
                </a:moveTo>
                <a:lnTo>
                  <a:pt x="0" y="175260"/>
                </a:lnTo>
                <a:lnTo>
                  <a:pt x="0" y="0"/>
                </a:lnTo>
                <a:lnTo>
                  <a:pt x="157734" y="87630"/>
                </a:lnTo>
              </a:path>
            </a:pathLst>
          </a:custGeom>
          <a:solidFill xmlns:a="http://schemas.openxmlformats.org/drawingml/2006/main">
            <a:srgbClr val="AE3636"/>
          </a:solidFill>
          <a:ln xmlns:a="http://schemas.openxmlformats.org/drawingml/2006/main" w="0">
            <a:solidFill>
              <a:srgbClr val="AE363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133644-3CB5-49E5-9150-25635492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67250"/>
            <a:ext cx="1543050" cy="638175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4C4C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BAB24C-1C5E-427F-9266-C8114676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639" y="4878134"/>
            <a:ext cx="1236621" cy="235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Source select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BD6677-E16C-4183-AA12-8F15F9BD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05275"/>
            <a:ext cx="9525" cy="523875"/>
          </a:xfrm>
          <a:custGeom xmlns:a="http://schemas.openxmlformats.org/drawingml/2006/main">
            <a:pathLst>
              <a:path w="9525" h="523875">
                <a:moveTo>
                  <a:pt x="0" y="0"/>
                </a:moveTo>
                <a:lnTo>
                  <a:pt x="0" y="523875"/>
                </a:lnTo>
              </a:path>
            </a:pathLst>
          </a:custGeom>
          <a:noFill xmlns:a="http://schemas.openxmlformats.org/drawingml/2006/main"/>
          <a:ln xmlns:a="http://schemas.openxmlformats.org/drawingml/2006/main" w="80963">
            <a:solidFill>
              <a:srgbClr val="FAFAF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5E8892-7A2B-4CD0-81E4-16899D6B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05275"/>
            <a:ext cx="9525" cy="523875"/>
          </a:xfrm>
          <a:custGeom xmlns:a="http://schemas.openxmlformats.org/drawingml/2006/main">
            <a:pathLst>
              <a:path w="9525" h="523875">
                <a:moveTo>
                  <a:pt x="0" y="0"/>
                </a:moveTo>
                <a:lnTo>
                  <a:pt x="0" y="5238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AE363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BA7A89-B767-405E-8D0C-2AEEE532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57700"/>
            <a:ext cx="190500" cy="171450"/>
          </a:xfrm>
          <a:custGeom xmlns:a="http://schemas.openxmlformats.org/drawingml/2006/main">
            <a:pathLst>
              <a:path w="190500" h="171450">
                <a:moveTo>
                  <a:pt x="95250" y="171450"/>
                </a:moveTo>
                <a:lnTo>
                  <a:pt x="0" y="0"/>
                </a:lnTo>
                <a:lnTo>
                  <a:pt x="190500" y="0"/>
                </a:lnTo>
                <a:lnTo>
                  <a:pt x="95250" y="171450"/>
                </a:lnTo>
              </a:path>
            </a:pathLst>
          </a:custGeom>
          <a:solidFill xmlns:a="http://schemas.openxmlformats.org/drawingml/2006/main">
            <a:srgbClr val="AE3636"/>
          </a:solidFill>
          <a:ln xmlns:a="http://schemas.openxmlformats.org/drawingml/2006/main" w="0">
            <a:solidFill>
              <a:srgbClr val="AE363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3F5784-6496-4489-9485-96EA3532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38650"/>
            <a:ext cx="438150" cy="552450"/>
          </a:xfrm>
          <a:custGeom xmlns:a="http://schemas.openxmlformats.org/drawingml/2006/main">
            <a:pathLst>
              <a:path w="438150" h="552450">
                <a:moveTo>
                  <a:pt x="0" y="0"/>
                </a:moveTo>
                <a:lnTo>
                  <a:pt x="219075" y="0"/>
                </a:lnTo>
                <a:lnTo>
                  <a:pt x="219075" y="552450"/>
                </a:lnTo>
                <a:lnTo>
                  <a:pt x="438150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79058">
            <a:solidFill>
              <a:srgbClr val="FAFAF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AEDAFE-FA61-4B9B-8E00-670C7770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38650"/>
            <a:ext cx="438150" cy="552450"/>
          </a:xfrm>
          <a:custGeom xmlns:a="http://schemas.openxmlformats.org/drawingml/2006/main">
            <a:pathLst>
              <a:path w="438150" h="552450">
                <a:moveTo>
                  <a:pt x="0" y="0"/>
                </a:moveTo>
                <a:lnTo>
                  <a:pt x="219075" y="0"/>
                </a:lnTo>
                <a:lnTo>
                  <a:pt x="219075" y="552450"/>
                </a:lnTo>
                <a:lnTo>
                  <a:pt x="438150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AE363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446A6A-C6CC-4C4C-955E-2E6EDCA0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116" y="4903470"/>
            <a:ext cx="157734" cy="175260"/>
          </a:xfrm>
          <a:custGeom xmlns:a="http://schemas.openxmlformats.org/drawingml/2006/main">
            <a:pathLst>
              <a:path w="157734" h="175260">
                <a:moveTo>
                  <a:pt x="157734" y="87630"/>
                </a:moveTo>
                <a:lnTo>
                  <a:pt x="0" y="175260"/>
                </a:lnTo>
                <a:lnTo>
                  <a:pt x="0" y="0"/>
                </a:lnTo>
                <a:lnTo>
                  <a:pt x="157734" y="87630"/>
                </a:lnTo>
              </a:path>
            </a:pathLst>
          </a:custGeom>
          <a:solidFill xmlns:a="http://schemas.openxmlformats.org/drawingml/2006/main">
            <a:srgbClr val="AE3636"/>
          </a:solidFill>
          <a:ln xmlns:a="http://schemas.openxmlformats.org/drawingml/2006/main" w="0">
            <a:solidFill>
              <a:srgbClr val="AE363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35E3CC-FB27-4A45-8658-FDCB8F2F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9194"/>
            <a:ext cx="1028700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External 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1BB76F-C9F6-48BC-8E61-9DCB07F7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381244"/>
            <a:ext cx="1576730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Ring or external input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B53E95-8935-45CA-9CDE-8494F31B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09875"/>
            <a:ext cx="3381375" cy="2886075"/>
          </a:xfrm>
          <a:prstGeom xmlns:a="http://schemas.openxmlformats.org/drawingml/2006/main" prst="roundRect">
            <a:avLst>
              <a:gd name="adj" fmla="val 9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FAFA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FABDA8-6955-413F-8990-00BA4652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947416"/>
            <a:ext cx="1929536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Four test flip-flops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838EF0-983A-4F0F-8D2B-BCC4EA67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257741"/>
            <a:ext cx="2335473" cy="210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Shared data and capture clock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3900F7-860B-4F81-A221-1ECA8BEE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90925"/>
            <a:ext cx="2952750" cy="4191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solidFill>
              <a:srgbClr val="EFEFE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0D65EF-AFFD-4C51-92D8-D9C48646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14369"/>
            <a:ext cx="199644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BDE2F1-17E1-4B08-9BF5-7CE94C6E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19119"/>
            <a:ext cx="1281684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Library reference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06623C-76DC-4432-8195-2DD4924E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08476"/>
            <a:ext cx="491776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dffq_1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09AEA5-65EC-4BC0-B334-65C2B2D2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76700"/>
            <a:ext cx="2952750" cy="4191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solidFill>
              <a:srgbClr val="EFEFE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2A860C-BC56-4500-8CDA-B8E6BA00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00144"/>
            <a:ext cx="226314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6F33E2-65B9-451E-896E-0A726705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04894"/>
            <a:ext cx="717652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Baseline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E49520-94EE-40CD-8C4F-D2F355B2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94251"/>
            <a:ext cx="1461764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standard-cell flip-flop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62C5E5-78A1-44AE-8392-24824FEE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562475"/>
            <a:ext cx="2952750" cy="4191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2E5E5"/>
          </a:solidFill>
          <a:ln xmlns:a="http://schemas.openxmlformats.org/drawingml/2006/main" w="0">
            <a:solidFill>
              <a:srgbClr val="F2E5E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E816F1-7510-4C13-B2A8-B7E0E007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85919"/>
            <a:ext cx="226619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E3636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AE3636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21DD19-8743-4DEF-8547-0BFD2371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90669"/>
            <a:ext cx="1545488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Our design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82CBBA-0074-4CF1-834F-69E32BA5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80026"/>
            <a:ext cx="1483633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one targeted change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ED021E-9F5B-436F-9CE6-AE250A0D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048250"/>
            <a:ext cx="2952750" cy="4191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6E6E6"/>
          </a:solidFill>
          <a:ln xmlns:a="http://schemas.openxmlformats.org/drawingml/2006/main" w="0">
            <a:solidFill>
              <a:srgbClr val="E6E6E6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DC063F8-AA5A-41E1-A27C-07ADC085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71694"/>
            <a:ext cx="22829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8600D4-10E8-4B63-BDF0-06255DCF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76444"/>
            <a:ext cx="161513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Control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7A9086-45A6-4CF4-A07D-9008994A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65801"/>
            <a:ext cx="1461764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comparison variant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82EEBE-0D64-4178-9A5E-74D9EE0C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991100"/>
            <a:ext cx="952500" cy="9525"/>
          </a:xfrm>
          <a:custGeom xmlns:a="http://schemas.openxmlformats.org/drawingml/2006/main"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25">
            <a:solidFill>
              <a:srgbClr val="FAFAFA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F296DE-1E0A-4361-B3D0-7BF729BB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991100"/>
            <a:ext cx="952500" cy="9525"/>
          </a:xfrm>
          <a:custGeom xmlns:a="http://schemas.openxmlformats.org/drawingml/2006/main"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E3636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623D9FD-DB51-4C53-88D5-DCDC7A42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235" y="4876800"/>
            <a:ext cx="205740" cy="228600"/>
          </a:xfrm>
          <a:custGeom xmlns:a="http://schemas.openxmlformats.org/drawingml/2006/main">
            <a:pathLst>
              <a:path w="205740" h="228600">
                <a:moveTo>
                  <a:pt x="205740" y="114300"/>
                </a:moveTo>
                <a:lnTo>
                  <a:pt x="0" y="228600"/>
                </a:lnTo>
                <a:lnTo>
                  <a:pt x="0" y="0"/>
                </a:lnTo>
                <a:lnTo>
                  <a:pt x="205740" y="114300"/>
                </a:lnTo>
              </a:path>
            </a:pathLst>
          </a:custGeom>
          <a:solidFill xmlns:a="http://schemas.openxmlformats.org/drawingml/2006/main">
            <a:srgbClr val="AE3636"/>
          </a:solidFill>
          <a:ln xmlns:a="http://schemas.openxmlformats.org/drawingml/2006/main" w="0">
            <a:solidFill>
              <a:srgbClr val="AE3636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7BE0DD8-D421-41CE-8F56-9F443A8C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06112"/>
            <a:ext cx="251498" cy="222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3636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AE3636"/>
                </a:solidFill>
                <a:latin typeface="Nimbus Sans"/>
                <a:ea typeface="Nimbus Sans"/>
                <a:cs typeface="Nimbus Sans"/>
              </a:rPr>
              <a:t>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301F037-DD15-4459-98D3-05DC9897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705225"/>
            <a:ext cx="923925" cy="866775"/>
          </a:xfrm>
          <a:prstGeom xmlns:a="http://schemas.openxmlformats.org/drawingml/2006/main" prst="roundRect">
            <a:avLst>
              <a:gd name="adj" fmla="val 3297"/>
            </a:avLst>
          </a:prstGeom>
          <a:solidFill xmlns:a="http://schemas.openxmlformats.org/drawingml/2006/main">
            <a:srgbClr val="EEEEEE"/>
          </a:solidFill>
          <a:ln xmlns:a="http://schemas.openxmlformats.org/drawingml/2006/main" w="15240">
            <a:solidFill>
              <a:srgbClr val="BDBDBD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A15A66C-701B-45A6-A3B1-D4114A00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180" y="3824288"/>
            <a:ext cx="448389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E3636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AE3636"/>
                </a:solidFill>
                <a:latin typeface="Nimbus Sans"/>
                <a:ea typeface="Nimbus Sans"/>
                <a:cs typeface="Nimbus Sans"/>
              </a:rPr>
              <a:t>4:1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AA57BB9-2C63-440C-993F-8E05EED3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535" y="4199001"/>
            <a:ext cx="795680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DUT select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8C9F7A4-6973-421B-A64C-64C04607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124325"/>
            <a:ext cx="476250" cy="9525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25">
            <a:solidFill>
              <a:srgbClr val="FAFAFA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5C7B165-6D6D-4ED5-BA53-7AC0B26F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124325"/>
            <a:ext cx="476250" cy="9525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E3636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5F16FDD-4A6E-4AA7-8C46-9D01EA46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2385" y="4010025"/>
            <a:ext cx="205740" cy="228600"/>
          </a:xfrm>
          <a:custGeom xmlns:a="http://schemas.openxmlformats.org/drawingml/2006/main">
            <a:pathLst>
              <a:path w="205740" h="228600">
                <a:moveTo>
                  <a:pt x="205740" y="114300"/>
                </a:moveTo>
                <a:lnTo>
                  <a:pt x="0" y="228600"/>
                </a:lnTo>
                <a:lnTo>
                  <a:pt x="0" y="0"/>
                </a:lnTo>
                <a:lnTo>
                  <a:pt x="205740" y="114300"/>
                </a:lnTo>
              </a:path>
            </a:pathLst>
          </a:custGeom>
          <a:solidFill xmlns:a="http://schemas.openxmlformats.org/drawingml/2006/main">
            <a:srgbClr val="AE3636"/>
          </a:solidFill>
          <a:ln xmlns:a="http://schemas.openxmlformats.org/drawingml/2006/main" w="0">
            <a:solidFill>
              <a:srgbClr val="AE3636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D2229B2-65D8-4ADE-9D1D-37807C62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56101"/>
            <a:ext cx="501377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3636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AE3636"/>
                </a:solidFill>
                <a:latin typeface="Nimbus Sans"/>
                <a:ea typeface="Nimbus Sans"/>
                <a:cs typeface="Nimbus Sans"/>
              </a:rPr>
              <a:t>Q[3:0]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0E30992-3812-466A-BAB1-D5E32D83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95650"/>
            <a:ext cx="800100" cy="828675"/>
          </a:xfrm>
          <a:custGeom xmlns:a="http://schemas.openxmlformats.org/drawingml/2006/main">
            <a:pathLst>
              <a:path w="800100" h="828675">
                <a:moveTo>
                  <a:pt x="0" y="828675"/>
                </a:moveTo>
                <a:lnTo>
                  <a:pt x="381000" y="828675"/>
                </a:lnTo>
                <a:lnTo>
                  <a:pt x="381000" y="0"/>
                </a:lnTo>
                <a:lnTo>
                  <a:pt x="800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25">
            <a:solidFill>
              <a:srgbClr val="FAFAFA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2039BCE-EA9A-4432-A42D-1794913B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95650"/>
            <a:ext cx="800100" cy="828675"/>
          </a:xfrm>
          <a:custGeom xmlns:a="http://schemas.openxmlformats.org/drawingml/2006/main">
            <a:pathLst>
              <a:path w="800100" h="828675">
                <a:moveTo>
                  <a:pt x="0" y="828675"/>
                </a:moveTo>
                <a:lnTo>
                  <a:pt x="381000" y="828675"/>
                </a:lnTo>
                <a:lnTo>
                  <a:pt x="381000" y="0"/>
                </a:lnTo>
                <a:lnTo>
                  <a:pt x="800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E3636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879E7D0-38EA-4F71-A813-04EE1214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5460" y="3181350"/>
            <a:ext cx="205740" cy="228600"/>
          </a:xfrm>
          <a:custGeom xmlns:a="http://schemas.openxmlformats.org/drawingml/2006/main">
            <a:pathLst>
              <a:path w="205740" h="228600">
                <a:moveTo>
                  <a:pt x="205740" y="114300"/>
                </a:moveTo>
                <a:lnTo>
                  <a:pt x="0" y="228600"/>
                </a:lnTo>
                <a:lnTo>
                  <a:pt x="0" y="0"/>
                </a:lnTo>
                <a:lnTo>
                  <a:pt x="205740" y="114300"/>
                </a:lnTo>
              </a:path>
            </a:pathLst>
          </a:custGeom>
          <a:solidFill xmlns:a="http://schemas.openxmlformats.org/drawingml/2006/main">
            <a:srgbClr val="AE3636"/>
          </a:solidFill>
          <a:ln xmlns:a="http://schemas.openxmlformats.org/drawingml/2006/main" w="0">
            <a:solidFill>
              <a:srgbClr val="AE3636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A730686-92ED-4CB9-A581-5C626872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124325"/>
            <a:ext cx="419100" cy="942975"/>
          </a:xfrm>
          <a:custGeom xmlns:a="http://schemas.openxmlformats.org/drawingml/2006/main">
            <a:pathLst>
              <a:path w="419100" h="942975">
                <a:moveTo>
                  <a:pt x="0" y="0"/>
                </a:moveTo>
                <a:lnTo>
                  <a:pt x="0" y="942975"/>
                </a:lnTo>
                <a:lnTo>
                  <a:pt x="419100" y="942975"/>
                </a:lnTo>
              </a:path>
            </a:pathLst>
          </a:custGeom>
          <a:noFill xmlns:a="http://schemas.openxmlformats.org/drawingml/2006/main"/>
          <a:ln xmlns:a="http://schemas.openxmlformats.org/drawingml/2006/main" w="85725">
            <a:solidFill>
              <a:srgbClr val="FAFAFA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2942BBE-E909-414D-92DF-CC3CC732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124325"/>
            <a:ext cx="419100" cy="942975"/>
          </a:xfrm>
          <a:custGeom xmlns:a="http://schemas.openxmlformats.org/drawingml/2006/main">
            <a:pathLst>
              <a:path w="419100" h="942975">
                <a:moveTo>
                  <a:pt x="0" y="0"/>
                </a:moveTo>
                <a:lnTo>
                  <a:pt x="0" y="942975"/>
                </a:lnTo>
                <a:lnTo>
                  <a:pt x="419100" y="9429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E3636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745DA67-60C4-4C34-BD7C-2D1AE150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5460" y="4953000"/>
            <a:ext cx="205740" cy="228600"/>
          </a:xfrm>
          <a:custGeom xmlns:a="http://schemas.openxmlformats.org/drawingml/2006/main">
            <a:pathLst>
              <a:path w="205740" h="228600">
                <a:moveTo>
                  <a:pt x="205740" y="114300"/>
                </a:moveTo>
                <a:lnTo>
                  <a:pt x="0" y="228600"/>
                </a:lnTo>
                <a:lnTo>
                  <a:pt x="0" y="0"/>
                </a:lnTo>
                <a:lnTo>
                  <a:pt x="205740" y="114300"/>
                </a:lnTo>
              </a:path>
            </a:pathLst>
          </a:custGeom>
          <a:solidFill xmlns:a="http://schemas.openxmlformats.org/drawingml/2006/main">
            <a:srgbClr val="AE3636"/>
          </a:solidFill>
          <a:ln xmlns:a="http://schemas.openxmlformats.org/drawingml/2006/main" w="0">
            <a:solidFill>
              <a:srgbClr val="AE3636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2167716-36B7-434B-8E67-17B45EDA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40814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3636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EC7FA85-AE70-4753-8308-8C83BD74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94873"/>
            <a:ext cx="1101519" cy="185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2-bit DUT code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AF78DE1-F56D-4ADE-ADFE-38961F39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81300"/>
            <a:ext cx="247650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EEEEE"/>
          </a:solidFill>
          <a:ln xmlns:a="http://schemas.openxmlformats.org/drawingml/2006/main" w="15240">
            <a:solidFill>
              <a:srgbClr val="BDBDBD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025E6ED-3C56-46F2-9108-91D8B0D5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99220"/>
            <a:ext cx="1423035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Late samples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7450EB4-F456-44D9-AE68-B46D84FB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20784"/>
            <a:ext cx="1735750" cy="235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+50 ns and +100 ns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2F6D71F-9618-40D1-8DF7-21D21594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33394"/>
            <a:ext cx="1904086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Settled reference samples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E9D31E8-D47B-453B-9711-EA41FB52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33900"/>
            <a:ext cx="2476500" cy="116205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EEEEEE"/>
          </a:solidFill>
          <a:ln xmlns:a="http://schemas.openxmlformats.org/drawingml/2006/main" w="15240">
            <a:solidFill>
              <a:srgbClr val="BDBDBD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F5C5E99-7C13-4635-BBF7-71993E4F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661345"/>
            <a:ext cx="1385573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Early sample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593B339-EEB2-448B-A93F-CC73E16C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982909"/>
            <a:ext cx="1733721" cy="235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At selected delay dₖ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B2E0B59-3208-444D-A8E5-82EA44FA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333048"/>
            <a:ext cx="2055352" cy="185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Rising / falling-edge observers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9404074-8F15-43AD-A612-0C1CA374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476625"/>
            <a:ext cx="2000250" cy="1323975"/>
          </a:xfrm>
          <a:prstGeom xmlns:a="http://schemas.openxmlformats.org/drawingml/2006/main" prst="roundRect">
            <a:avLst>
              <a:gd name="adj" fmla="val 2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BDBDBD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5E1D7E1-D46E-425B-BA4F-540C0ECC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9984" y="3605213"/>
            <a:ext cx="1107281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Compare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E35C90D-A4D7-4339-B650-35449B69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3280" y="3972687"/>
            <a:ext cx="1100690" cy="222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Early vs. late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5426FC8-2AB9-44FC-AB03-40C5401D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7914" y="4419219"/>
            <a:ext cx="1471422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Evaluate at +150 ns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E9823C6-296F-43D7-A230-D3ECFCBB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295650"/>
            <a:ext cx="647700" cy="504825"/>
          </a:xfrm>
          <a:custGeom xmlns:a="http://schemas.openxmlformats.org/drawingml/2006/main">
            <a:pathLst>
              <a:path w="647700" h="504825">
                <a:moveTo>
                  <a:pt x="0" y="0"/>
                </a:moveTo>
                <a:lnTo>
                  <a:pt x="285750" y="0"/>
                </a:lnTo>
                <a:lnTo>
                  <a:pt x="285750" y="504825"/>
                </a:lnTo>
                <a:lnTo>
                  <a:pt x="647700" y="504825"/>
                </a:lnTo>
              </a:path>
            </a:pathLst>
          </a:custGeom>
          <a:noFill xmlns:a="http://schemas.openxmlformats.org/drawingml/2006/main"/>
          <a:ln xmlns:a="http://schemas.openxmlformats.org/drawingml/2006/main" w="85725">
            <a:solidFill>
              <a:srgbClr val="FAFAFA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2C48071-9D7B-465E-B9D2-55CBEE05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295650"/>
            <a:ext cx="647700" cy="504825"/>
          </a:xfrm>
          <a:custGeom xmlns:a="http://schemas.openxmlformats.org/drawingml/2006/main">
            <a:pathLst>
              <a:path w="647700" h="504825">
                <a:moveTo>
                  <a:pt x="0" y="0"/>
                </a:moveTo>
                <a:lnTo>
                  <a:pt x="285750" y="0"/>
                </a:lnTo>
                <a:lnTo>
                  <a:pt x="285750" y="504825"/>
                </a:lnTo>
                <a:lnTo>
                  <a:pt x="647700" y="5048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E3636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66B140B-01B8-4345-AF60-46207047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8710" y="3686175"/>
            <a:ext cx="205740" cy="228600"/>
          </a:xfrm>
          <a:custGeom xmlns:a="http://schemas.openxmlformats.org/drawingml/2006/main">
            <a:pathLst>
              <a:path w="205740" h="228600">
                <a:moveTo>
                  <a:pt x="205740" y="114300"/>
                </a:moveTo>
                <a:lnTo>
                  <a:pt x="0" y="228600"/>
                </a:lnTo>
                <a:lnTo>
                  <a:pt x="0" y="0"/>
                </a:lnTo>
                <a:lnTo>
                  <a:pt x="205740" y="114300"/>
                </a:lnTo>
              </a:path>
            </a:pathLst>
          </a:custGeom>
          <a:solidFill xmlns:a="http://schemas.openxmlformats.org/drawingml/2006/main">
            <a:srgbClr val="AE3636"/>
          </a:solidFill>
          <a:ln xmlns:a="http://schemas.openxmlformats.org/drawingml/2006/main" w="0">
            <a:solidFill>
              <a:srgbClr val="AE3636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3209EA0-2B84-43F8-B408-ACF418C3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429125"/>
            <a:ext cx="647700" cy="638175"/>
          </a:xfrm>
          <a:custGeom xmlns:a="http://schemas.openxmlformats.org/drawingml/2006/main">
            <a:pathLst>
              <a:path w="647700" h="638175">
                <a:moveTo>
                  <a:pt x="0" y="638175"/>
                </a:moveTo>
                <a:lnTo>
                  <a:pt x="285750" y="638175"/>
                </a:lnTo>
                <a:lnTo>
                  <a:pt x="285750" y="0"/>
                </a:lnTo>
                <a:lnTo>
                  <a:pt x="647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25">
            <a:solidFill>
              <a:srgbClr val="FAFAFA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A8A0C38-B0C9-47B4-A88F-A99C2931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429125"/>
            <a:ext cx="647700" cy="638175"/>
          </a:xfrm>
          <a:custGeom xmlns:a="http://schemas.openxmlformats.org/drawingml/2006/main">
            <a:pathLst>
              <a:path w="647700" h="638175">
                <a:moveTo>
                  <a:pt x="0" y="638175"/>
                </a:moveTo>
                <a:lnTo>
                  <a:pt x="285750" y="638175"/>
                </a:lnTo>
                <a:lnTo>
                  <a:pt x="285750" y="0"/>
                </a:lnTo>
                <a:lnTo>
                  <a:pt x="647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E3636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9890776-B474-4DBC-AFB6-B9B8A502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8710" y="4314825"/>
            <a:ext cx="205740" cy="228600"/>
          </a:xfrm>
          <a:custGeom xmlns:a="http://schemas.openxmlformats.org/drawingml/2006/main">
            <a:pathLst>
              <a:path w="205740" h="228600">
                <a:moveTo>
                  <a:pt x="205740" y="114300"/>
                </a:moveTo>
                <a:lnTo>
                  <a:pt x="0" y="228600"/>
                </a:lnTo>
                <a:lnTo>
                  <a:pt x="0" y="0"/>
                </a:lnTo>
                <a:lnTo>
                  <a:pt x="205740" y="114300"/>
                </a:lnTo>
              </a:path>
            </a:pathLst>
          </a:custGeom>
          <a:solidFill xmlns:a="http://schemas.openxmlformats.org/drawingml/2006/main">
            <a:srgbClr val="AE3636"/>
          </a:solidFill>
          <a:ln xmlns:a="http://schemas.openxmlformats.org/drawingml/2006/main" w="0">
            <a:solidFill>
              <a:srgbClr val="AE3636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8AC9F5C-0199-476F-853C-DD7EEA1C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3476625"/>
            <a:ext cx="2238375" cy="1323975"/>
          </a:xfrm>
          <a:prstGeom xmlns:a="http://schemas.openxmlformats.org/drawingml/2006/main" prst="roundRect">
            <a:avLst>
              <a:gd name="adj" fmla="val 2158"/>
            </a:avLst>
          </a:prstGeom>
          <a:solidFill xmlns:a="http://schemas.openxmlformats.org/drawingml/2006/main">
            <a:srgbClr val="EEEEEE"/>
          </a:solidFill>
          <a:ln xmlns:a="http://schemas.openxmlformats.org/drawingml/2006/main" w="15240">
            <a:solidFill>
              <a:srgbClr val="BDBDBD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0E2922B-E640-4E7A-B920-B83C6036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0" y="3605213"/>
            <a:ext cx="109466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Counters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64CD10E-544B-43DC-91DD-9971C8E4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0" y="4019741"/>
            <a:ext cx="1343844" cy="210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K  disagreements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95BB6AD-C557-4162-9DB7-1E93AE06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0" y="4305491"/>
            <a:ext cx="636556" cy="210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N  trials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B430513-23B5-4D6A-A28C-9D9F1997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4124325"/>
            <a:ext cx="552450" cy="9525"/>
          </a:xfrm>
          <a:custGeom xmlns:a="http://schemas.openxmlformats.org/drawingml/2006/main"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25">
            <a:solidFill>
              <a:srgbClr val="FAFAFA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444FDCA-4113-4E0B-BCE7-ACA6DA68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4124325"/>
            <a:ext cx="552450" cy="9525"/>
          </a:xfrm>
          <a:custGeom xmlns:a="http://schemas.openxmlformats.org/drawingml/2006/main"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E3636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204DE7D-5372-4D99-A45F-BEF04DE4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0460" y="4010025"/>
            <a:ext cx="205740" cy="228600"/>
          </a:xfrm>
          <a:custGeom xmlns:a="http://schemas.openxmlformats.org/drawingml/2006/main">
            <a:pathLst>
              <a:path w="205740" h="228600">
                <a:moveTo>
                  <a:pt x="205740" y="114300"/>
                </a:moveTo>
                <a:lnTo>
                  <a:pt x="0" y="228600"/>
                </a:lnTo>
                <a:lnTo>
                  <a:pt x="0" y="0"/>
                </a:lnTo>
                <a:lnTo>
                  <a:pt x="205740" y="114300"/>
                </a:lnTo>
              </a:path>
            </a:pathLst>
          </a:custGeom>
          <a:solidFill xmlns:a="http://schemas.openxmlformats.org/drawingml/2006/main">
            <a:srgbClr val="AE3636"/>
          </a:solidFill>
          <a:ln xmlns:a="http://schemas.openxmlformats.org/drawingml/2006/main" w="0">
            <a:solidFill>
              <a:srgbClr val="AE3636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3150166-1EB8-4A61-BE3A-B372358B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3884104"/>
            <a:ext cx="443017" cy="160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3636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AE3636"/>
                </a:solidFill>
                <a:latin typeface="Nimbus Sans"/>
                <a:ea typeface="Nimbus Sans"/>
                <a:cs typeface="Nimbus Sans"/>
              </a:rPr>
              <a:t>event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0F8AD6F-F304-4029-9B85-8A52F159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9675" y="4800600"/>
            <a:ext cx="9525" cy="600075"/>
          </a:xfrm>
          <a:custGeom xmlns:a="http://schemas.openxmlformats.org/drawingml/2006/main">
            <a:pathLst>
              <a:path w="9525" h="600075">
                <a:moveTo>
                  <a:pt x="0" y="0"/>
                </a:moveTo>
                <a:lnTo>
                  <a:pt x="0" y="600075"/>
                </a:lnTo>
              </a:path>
            </a:pathLst>
          </a:custGeom>
          <a:noFill xmlns:a="http://schemas.openxmlformats.org/drawingml/2006/main"/>
          <a:ln xmlns:a="http://schemas.openxmlformats.org/drawingml/2006/main" w="82868">
            <a:solidFill>
              <a:srgbClr val="FAFAFA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CC3A512-408B-4E15-AE6F-18DCFBA8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9675" y="4800600"/>
            <a:ext cx="9525" cy="600075"/>
          </a:xfrm>
          <a:custGeom xmlns:a="http://schemas.openxmlformats.org/drawingml/2006/main">
            <a:pathLst>
              <a:path w="9525" h="600075">
                <a:moveTo>
                  <a:pt x="0" y="0"/>
                </a:moveTo>
                <a:lnTo>
                  <a:pt x="0" y="600075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303030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B5414BC-82C9-410C-B68F-4BA04CBE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6805" y="5215509"/>
            <a:ext cx="205740" cy="185166"/>
          </a:xfrm>
          <a:custGeom xmlns:a="http://schemas.openxmlformats.org/drawingml/2006/main">
            <a:pathLst>
              <a:path w="205740" h="185166">
                <a:moveTo>
                  <a:pt x="102870" y="185166"/>
                </a:moveTo>
                <a:lnTo>
                  <a:pt x="0" y="0"/>
                </a:lnTo>
                <a:lnTo>
                  <a:pt x="205740" y="0"/>
                </a:lnTo>
                <a:lnTo>
                  <a:pt x="102870" y="185166"/>
                </a:lnTo>
              </a:path>
            </a:pathLst>
          </a:custGeom>
          <a:solidFill xmlns:a="http://schemas.openxmlformats.org/drawingml/2006/main">
            <a:srgbClr val="303030"/>
          </a:solidFill>
          <a:ln xmlns:a="http://schemas.openxmlformats.org/drawingml/2006/main" w="0">
            <a:solidFill>
              <a:srgbClr val="303030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442694D-EEA1-4764-8457-360CEA66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5429250"/>
            <a:ext cx="2238375" cy="6096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BDBDBD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7CBC4EB-BB66-455F-B726-78383C53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9431" y="5516309"/>
            <a:ext cx="1460487" cy="235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Held 8-bit output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426E347-D8F5-4A25-A8C5-839F7B08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0666" y="5771769"/>
            <a:ext cx="598018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uo[7:0]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C2DC6FD-98AA-465B-AEE0-12213AF8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3242" y="6171248"/>
            <a:ext cx="1592866" cy="185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BUSY  ·  DONE  ·  FAULT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0AB62FC-01B9-4C16-AC2B-E1ECFCA1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239000"/>
            <a:ext cx="3381375" cy="12573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EEEEEE"/>
          </a:solidFill>
          <a:ln xmlns:a="http://schemas.openxmlformats.org/drawingml/2006/main" w="15240">
            <a:solidFill>
              <a:srgbClr val="BDBDBD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959A476-EDD5-4D1D-901E-11549800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7357491"/>
            <a:ext cx="1244879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Sequencer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336BEA0-3D77-4844-AA03-F589B24D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7697534"/>
            <a:ext cx="1848679" cy="235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20 MHz system clock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57B9F88-F99D-4CC5-8788-00295FBD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7992809"/>
            <a:ext cx="1905505" cy="235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One trial every 200 ns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5F2DD2B-C0EB-4C85-B295-DFDCDA27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5715000"/>
            <a:ext cx="9525" cy="1524000"/>
          </a:xfrm>
          <a:custGeom xmlns:a="http://schemas.openxmlformats.org/drawingml/2006/main">
            <a:pathLst>
              <a:path w="9525" h="1524000">
                <a:moveTo>
                  <a:pt x="0" y="152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868">
            <a:solidFill>
              <a:srgbClr val="FAFAFA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21286DB-468F-42D7-80F1-CB1E9789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5715000"/>
            <a:ext cx="9525" cy="1524000"/>
          </a:xfrm>
          <a:custGeom xmlns:a="http://schemas.openxmlformats.org/drawingml/2006/main">
            <a:pathLst>
              <a:path w="9525" h="1524000">
                <a:moveTo>
                  <a:pt x="0" y="152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777777"/>
            </a:solidFill>
            <a:prstDash val="dash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1190955-2140-4BED-B001-903EE519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3555" y="5715000"/>
            <a:ext cx="205740" cy="185166"/>
          </a:xfrm>
          <a:custGeom xmlns:a="http://schemas.openxmlformats.org/drawingml/2006/main">
            <a:pathLst>
              <a:path w="205740" h="185166">
                <a:moveTo>
                  <a:pt x="102870" y="0"/>
                </a:moveTo>
                <a:lnTo>
                  <a:pt x="205740" y="185166"/>
                </a:lnTo>
                <a:lnTo>
                  <a:pt x="0" y="185166"/>
                </a:lnTo>
                <a:lnTo>
                  <a:pt x="102870" y="0"/>
                </a:lnTo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2F71EF6-B0F6-4128-BA69-FC989C54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334316"/>
            <a:ext cx="1130751" cy="210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77777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777777"/>
                </a:solidFill>
                <a:latin typeface="Nimbus Sans"/>
                <a:ea typeface="Nimbus Sans"/>
                <a:cs typeface="Nimbus Sans"/>
              </a:rPr>
              <a:t>Capture clock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4A2B40B-63AF-4B64-8AD7-595BF575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619744"/>
            <a:ext cx="2287372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clk  /  rst_n  /  ena  /  START  /  mode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BBBC527-72EB-48B6-BF84-AF4FA9EA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239000"/>
            <a:ext cx="5143500" cy="12573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EEEEEE"/>
          </a:solidFill>
          <a:ln xmlns:a="http://schemas.openxmlformats.org/drawingml/2006/main" w="15240">
            <a:solidFill>
              <a:srgbClr val="BDBDBD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445BA8F-88E6-4225-B913-6AFAF69F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7375398"/>
            <a:ext cx="2051761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Programmable delay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AD5FCAA-98B1-42C4-8769-F45F4CF7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7706487"/>
            <a:ext cx="1777232" cy="222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16 selectable settings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3064E62-85FB-43AB-8B55-B29642DB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8001191"/>
            <a:ext cx="1771488" cy="210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Two interleaved chains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8B920ED-4446-4FB1-90D9-9FD4B8DE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458075"/>
            <a:ext cx="9525" cy="828675"/>
          </a:xfrm>
          <a:custGeom xmlns:a="http://schemas.openxmlformats.org/drawingml/2006/main">
            <a:pathLst>
              <a:path w="9525" h="828675">
                <a:moveTo>
                  <a:pt x="0" y="0"/>
                </a:moveTo>
                <a:lnTo>
                  <a:pt x="0" y="828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DBDBD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C8E6FA6-F03B-47E1-A234-591D5774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375398"/>
            <a:ext cx="1121988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Calibration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81311E4-7840-4F7B-B6D4-B0E8CAF8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706487"/>
            <a:ext cx="1294771" cy="222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Measures each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AF04F31-976C-4F42-ACB0-4EB24057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944612"/>
            <a:ext cx="1591551" cy="222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code’s actual delay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96E042B-7DBD-4B78-AAC3-A0138927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7772400"/>
            <a:ext cx="2219325" cy="9525"/>
          </a:xfrm>
          <a:custGeom xmlns:a="http://schemas.openxmlformats.org/drawingml/2006/main">
            <a:pathLst>
              <a:path w="2219325" h="9525">
                <a:moveTo>
                  <a:pt x="0" y="0"/>
                </a:moveTo>
                <a:lnTo>
                  <a:pt x="2219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868">
            <a:solidFill>
              <a:srgbClr val="FAFAFA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6FD5BEE-B07F-4EA7-A4F0-3D10D4DE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7772400"/>
            <a:ext cx="2219325" cy="9525"/>
          </a:xfrm>
          <a:custGeom xmlns:a="http://schemas.openxmlformats.org/drawingml/2006/main">
            <a:pathLst>
              <a:path w="2219325" h="9525">
                <a:moveTo>
                  <a:pt x="0" y="0"/>
                </a:moveTo>
                <a:lnTo>
                  <a:pt x="2219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777777"/>
            </a:solidFill>
            <a:prstDash val="dash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6AB1613-D552-4F88-BE5E-8DF4CCF4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034" y="7669530"/>
            <a:ext cx="185166" cy="205740"/>
          </a:xfrm>
          <a:custGeom xmlns:a="http://schemas.openxmlformats.org/drawingml/2006/main">
            <a:pathLst>
              <a:path w="185166" h="205740">
                <a:moveTo>
                  <a:pt x="185166" y="102870"/>
                </a:moveTo>
                <a:lnTo>
                  <a:pt x="0" y="205740"/>
                </a:lnTo>
                <a:lnTo>
                  <a:pt x="0" y="0"/>
                </a:lnTo>
                <a:lnTo>
                  <a:pt x="185166" y="102870"/>
                </a:lnTo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719E3BC-F2AE-40FC-B7BB-5D94909F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7495794"/>
            <a:ext cx="1086612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777777"/>
                </a:solidFill>
                <a:latin typeface="Nimbus Sans"/>
                <a:ea typeface="Nimbus Sans"/>
                <a:cs typeface="Nimbus Sans"/>
              </a:rPr>
              <a:t>Timing launch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3C15146-84B5-41F0-951C-6B11B60C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715000"/>
            <a:ext cx="9525" cy="1524000"/>
          </a:xfrm>
          <a:custGeom xmlns:a="http://schemas.openxmlformats.org/drawingml/2006/main">
            <a:pathLst>
              <a:path w="9525" h="1524000">
                <a:moveTo>
                  <a:pt x="0" y="152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868">
            <a:solidFill>
              <a:srgbClr val="FAFAFA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7982F0D-4775-4467-91EF-05AA8F1F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715000"/>
            <a:ext cx="9525" cy="1524000"/>
          </a:xfrm>
          <a:custGeom xmlns:a="http://schemas.openxmlformats.org/drawingml/2006/main">
            <a:pathLst>
              <a:path w="9525" h="1524000">
                <a:moveTo>
                  <a:pt x="0" y="152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777777"/>
            </a:solidFill>
            <a:prstDash val="dash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3536216-4B21-4C00-9ABC-61BC7F6A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630" y="5715000"/>
            <a:ext cx="205740" cy="185166"/>
          </a:xfrm>
          <a:custGeom xmlns:a="http://schemas.openxmlformats.org/drawingml/2006/main">
            <a:pathLst>
              <a:path w="205740" h="185166">
                <a:moveTo>
                  <a:pt x="102870" y="0"/>
                </a:moveTo>
                <a:lnTo>
                  <a:pt x="205740" y="185166"/>
                </a:lnTo>
                <a:lnTo>
                  <a:pt x="0" y="185166"/>
                </a:lnTo>
                <a:lnTo>
                  <a:pt x="102870" y="0"/>
                </a:lnTo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8A2D69D-AD1D-47BD-8160-2B66A1FD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34316"/>
            <a:ext cx="919277" cy="210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77777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777777"/>
                </a:solidFill>
                <a:latin typeface="Nimbus Sans"/>
                <a:ea typeface="Nimbus Sans"/>
                <a:cs typeface="Nimbus Sans"/>
              </a:rPr>
              <a:t>Early clock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8391672-EA31-4575-9CA9-2667C3F6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8619744"/>
            <a:ext cx="3268523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4-bit delay code  ·  One shared delay calibration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16AAFAF-976D-48F9-BEA1-B6A2088E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7610475"/>
            <a:ext cx="476250" cy="9525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25">
            <a:solidFill>
              <a:srgbClr val="FAFAFA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C2B15C2-FDD9-41FD-85C0-126B2D03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7610475"/>
            <a:ext cx="476250" cy="9525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E3636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9FFEE2A-C9C7-4828-8315-F913366D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6260" y="7496175"/>
            <a:ext cx="205740" cy="228600"/>
          </a:xfrm>
          <a:custGeom xmlns:a="http://schemas.openxmlformats.org/drawingml/2006/main">
            <a:pathLst>
              <a:path w="205740" h="228600">
                <a:moveTo>
                  <a:pt x="205740" y="114300"/>
                </a:moveTo>
                <a:lnTo>
                  <a:pt x="0" y="228600"/>
                </a:lnTo>
                <a:lnTo>
                  <a:pt x="0" y="0"/>
                </a:lnTo>
                <a:lnTo>
                  <a:pt x="205740" y="114300"/>
                </a:lnTo>
              </a:path>
            </a:pathLst>
          </a:custGeom>
          <a:solidFill xmlns:a="http://schemas.openxmlformats.org/drawingml/2006/main">
            <a:srgbClr val="AE3636"/>
          </a:solidFill>
          <a:ln xmlns:a="http://schemas.openxmlformats.org/drawingml/2006/main" w="0">
            <a:solidFill>
              <a:srgbClr val="AE3636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C54B157-A2D5-4727-B311-A1F611FE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7515416"/>
            <a:ext cx="1000401" cy="210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Data / result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57F2F12-393D-4CD4-B312-0551FCED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7991475"/>
            <a:ext cx="476250" cy="9525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868">
            <a:solidFill>
              <a:srgbClr val="FAFAFA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9B781E3-01A6-4EED-838D-73B1DCDC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7991475"/>
            <a:ext cx="476250" cy="9525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777777"/>
            </a:solidFill>
            <a:prstDash val="dash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1FEDD9C-9FD8-4540-8537-4BAF688D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6834" y="7888605"/>
            <a:ext cx="185166" cy="205740"/>
          </a:xfrm>
          <a:custGeom xmlns:a="http://schemas.openxmlformats.org/drawingml/2006/main">
            <a:pathLst>
              <a:path w="185166" h="205740">
                <a:moveTo>
                  <a:pt x="185166" y="102870"/>
                </a:moveTo>
                <a:lnTo>
                  <a:pt x="0" y="205740"/>
                </a:lnTo>
                <a:lnTo>
                  <a:pt x="0" y="0"/>
                </a:lnTo>
                <a:lnTo>
                  <a:pt x="185166" y="102870"/>
                </a:lnTo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D72E9B4-1390-42B1-A3E6-0E6C7AC7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7896416"/>
            <a:ext cx="1104357" cy="210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Clock / timing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8F22264-6FFA-4BBE-89CE-C7D6D8FD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925687"/>
            <a:ext cx="1402956" cy="222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Off-chip analysis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D37B2DD-2AE4-428A-9F6E-09E2802C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277350"/>
            <a:ext cx="3333750" cy="6477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EEEEEE"/>
          </a:solidFill>
          <a:ln xmlns:a="http://schemas.openxmlformats.org/drawingml/2006/main" w="15240">
            <a:solidFill>
              <a:srgbClr val="BDBDBD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4265549-6F93-412C-99C7-E634EB29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337548"/>
            <a:ext cx="1676457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Sweep the delay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CB1A7F8-E5C9-4EF0-BD3E-DCC887C3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638919"/>
            <a:ext cx="2791358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Repeat the measurement for each DUT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3BDF7BA-C1AA-4833-971A-04F11F7B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9277350"/>
            <a:ext cx="3333750" cy="6477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EEEEEE"/>
          </a:solidFill>
          <a:ln xmlns:a="http://schemas.openxmlformats.org/drawingml/2006/main" w="15240">
            <a:solidFill>
              <a:srgbClr val="BDBDBD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8D0DC58-298D-4CCD-8A68-BDEA0C49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9337548"/>
            <a:ext cx="19603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Calculate p̂ₖ = K / N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90A017E-4D45-4435-84D7-14BD3860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9638919"/>
            <a:ext cx="2667914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Disagreement rate; N = 255 per block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99ADF11-732E-46C7-B15B-8238CFC1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9277350"/>
            <a:ext cx="4381500" cy="6477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EEEEEE"/>
          </a:solidFill>
          <a:ln xmlns:a="http://schemas.openxmlformats.org/drawingml/2006/main" w="15240">
            <a:solidFill>
              <a:srgbClr val="BDBDBD"/>
            </a:solidFill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30D5718-4875-496A-9016-2DE6AC75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337548"/>
            <a:ext cx="342800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Fit ln(p̂ₖ) against calibrated delay dₖ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A879371-47A9-434B-AF2E-487BEF7B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638919"/>
            <a:ext cx="2163013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Find the slope of the fitted line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4CF2F9A-A321-4185-9A99-C51893BD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9277350"/>
            <a:ext cx="4286250" cy="6477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EEEEEE"/>
          </a:solidFill>
          <a:ln xmlns:a="http://schemas.openxmlformats.org/drawingml/2006/main" w="15240">
            <a:solidFill>
              <a:srgbClr val="BDBDBD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749B85F-5FF4-4CCA-A5D4-8585E225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9337548"/>
            <a:ext cx="207083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Extract τ = −1 / slope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2324C67-7514-4B51-A0B7-4C2ABFC0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9638919"/>
            <a:ext cx="2329891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Compare τ across the four DUTs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962B670B-AB8B-46B9-9748-5B0BE32B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9601200"/>
            <a:ext cx="457200" cy="9525"/>
          </a:xfrm>
          <a:custGeom xmlns:a="http://schemas.openxmlformats.org/drawingml/2006/main"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963">
            <a:solidFill>
              <a:srgbClr val="FAFAFA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0237E9F1-9CD9-400A-AC35-70BE50A1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9601200"/>
            <a:ext cx="457200" cy="9525"/>
          </a:xfrm>
          <a:custGeom xmlns:a="http://schemas.openxmlformats.org/drawingml/2006/main"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AE3636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B56EEB34-1B50-4F57-9042-DEB55A1F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9505950"/>
            <a:ext cx="171450" cy="190500"/>
          </a:xfrm>
          <a:custGeom xmlns:a="http://schemas.openxmlformats.org/drawingml/2006/main">
            <a:pathLst>
              <a:path w="171450" h="190500">
                <a:moveTo>
                  <a:pt x="171450" y="95250"/>
                </a:moveTo>
                <a:lnTo>
                  <a:pt x="0" y="190500"/>
                </a:lnTo>
                <a:lnTo>
                  <a:pt x="0" y="0"/>
                </a:lnTo>
                <a:lnTo>
                  <a:pt x="171450" y="95250"/>
                </a:lnTo>
              </a:path>
            </a:pathLst>
          </a:custGeom>
          <a:solidFill xmlns:a="http://schemas.openxmlformats.org/drawingml/2006/main">
            <a:srgbClr val="AE3636"/>
          </a:solidFill>
          <a:ln xmlns:a="http://schemas.openxmlformats.org/drawingml/2006/main" w="0">
            <a:solidFill>
              <a:srgbClr val="AE3636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67225F02-2782-4134-ABB1-9FB56DFA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9601200"/>
            <a:ext cx="457200" cy="9525"/>
          </a:xfrm>
          <a:custGeom xmlns:a="http://schemas.openxmlformats.org/drawingml/2006/main"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963">
            <a:solidFill>
              <a:srgbClr val="FAFAFA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87EB0EED-608B-4ADC-BF29-AD636C96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9601200"/>
            <a:ext cx="457200" cy="9525"/>
          </a:xfrm>
          <a:custGeom xmlns:a="http://schemas.openxmlformats.org/drawingml/2006/main"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AE3636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B3495CC4-C6FE-44F2-AF9E-A6E63A38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9505950"/>
            <a:ext cx="171450" cy="190500"/>
          </a:xfrm>
          <a:custGeom xmlns:a="http://schemas.openxmlformats.org/drawingml/2006/main">
            <a:pathLst>
              <a:path w="171450" h="190500">
                <a:moveTo>
                  <a:pt x="171450" y="95250"/>
                </a:moveTo>
                <a:lnTo>
                  <a:pt x="0" y="190500"/>
                </a:lnTo>
                <a:lnTo>
                  <a:pt x="0" y="0"/>
                </a:lnTo>
                <a:lnTo>
                  <a:pt x="171450" y="95250"/>
                </a:lnTo>
              </a:path>
            </a:pathLst>
          </a:custGeom>
          <a:solidFill xmlns:a="http://schemas.openxmlformats.org/drawingml/2006/main">
            <a:srgbClr val="AE3636"/>
          </a:solidFill>
          <a:ln xmlns:a="http://schemas.openxmlformats.org/drawingml/2006/main" w="0">
            <a:solidFill>
              <a:srgbClr val="AE3636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7353166-52A7-45CA-9E4D-E563FD7E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9601200"/>
            <a:ext cx="457200" cy="9525"/>
          </a:xfrm>
          <a:custGeom xmlns:a="http://schemas.openxmlformats.org/drawingml/2006/main"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963">
            <a:solidFill>
              <a:srgbClr val="FAFAFA"/>
            </a:solidFill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BE3E96E-2733-45A0-83A6-0AF76DB1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9601200"/>
            <a:ext cx="457200" cy="9525"/>
          </a:xfrm>
          <a:custGeom xmlns:a="http://schemas.openxmlformats.org/drawingml/2006/main"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AE3636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82C8B1B7-8096-46BC-9260-88E29C50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9505950"/>
            <a:ext cx="171450" cy="190500"/>
          </a:xfrm>
          <a:custGeom xmlns:a="http://schemas.openxmlformats.org/drawingml/2006/main">
            <a:pathLst>
              <a:path w="171450" h="190500">
                <a:moveTo>
                  <a:pt x="171450" y="95250"/>
                </a:moveTo>
                <a:lnTo>
                  <a:pt x="0" y="190500"/>
                </a:lnTo>
                <a:lnTo>
                  <a:pt x="0" y="0"/>
                </a:lnTo>
                <a:lnTo>
                  <a:pt x="171450" y="95250"/>
                </a:lnTo>
              </a:path>
            </a:pathLst>
          </a:custGeom>
          <a:solidFill xmlns:a="http://schemas.openxmlformats.org/drawingml/2006/main">
            <a:srgbClr val="AE3636"/>
          </a:solidFill>
          <a:ln xmlns:a="http://schemas.openxmlformats.org/drawingml/2006/main" w="0">
            <a:solidFill>
              <a:srgbClr val="AE3636"/>
            </a:solidFill>
          </a:ln>
        </p:spPr>
      </p:sp>
    </p:spTree>
    <p:extLst>
      <p:ext uri="{BB962C8B-B14F-4D97-AF65-F5344CB8AC3E}">
        <p14:creationId xmlns:p14="http://schemas.microsoft.com/office/powerpoint/2010/main" val="3382580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74A46-4F73-44DF-8D15-A9196D4C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9125"/>
            <a:ext cx="1619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2850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Draft I/O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04EADE-DC4B-4722-9410-75ECB578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81100"/>
            <a:ext cx="1619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Tiny Tapeout logical ports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C6B82-DCAF-4E40-8A73-F2220256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1676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DBD"/>
          </a:solidFill>
          <a:ln xmlns:a="http://schemas.openxmlformats.org/drawingml/2006/main" w="0">
            <a:noFill/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09625" y="2476500"/>
          <a:ext xmlns:a="http://schemas.openxmlformats.org/drawingml/2006/main" cx="16764000" cy="6000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715125"/>
                <a:gridCol w="1571625"/>
                <a:gridCol w="847725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AE36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Signal</a:t>
                      </a:r>
                    </a:p>
                  </a:txBody>
                  <a:tcPr marL="91440" marR="91440" marT="45720" marB="45720">
                    <a:solidFill>
                      <a:srgbClr val="E3E3E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AE36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Dir.</a:t>
                      </a:r>
                    </a:p>
                  </a:txBody>
                  <a:tcPr marL="91440" marR="91440" marT="45720" marB="45720">
                    <a:solidFill>
                      <a:srgbClr val="E3E3E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AE36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Port assignment</a:t>
                      </a:r>
                    </a:p>
                  </a:txBody>
                  <a:tcPr marL="91440" marR="91440" marT="45720" marB="45720">
                    <a:solidFill>
                      <a:srgbClr val="E3E3E3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30303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Clock, active-low reset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AE36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In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30303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clk, rst_n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30303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Design select [1:0]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AE36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In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30303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ui[3] (bit 0), uio[6] (bit 1)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30303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Delay code [3:0]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AE36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In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30303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ui[2:0] (bits 2:0), uio[7] (bit 3)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30303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Start, source, data, mode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AE36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In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30303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ui[4], ui[5], ui[6], ui[7]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30303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Oscillator enable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AE36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In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30303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uio[0]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30303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Held 8-bit result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AE36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Out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30303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uo[7:0]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30303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Busy, done, fault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AE36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Out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30303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uio[1], uio[2], uio[3]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30303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Source monitor, trial monitor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AE36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Out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30303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uio[4], uio[5]</a:t>
                      </a:r>
                    </a:p>
                  </a:txBody>
                  <a:tcPr marL="91440" marR="91440" marT="45720" marB="45720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81368-A031-4C1E-A4F1-97CB9FE7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010650"/>
            <a:ext cx="1647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ena is the Tiny Tapeout tile enable. Assignments remain provisional.</a:t>
            </a:r>
          </a:p>
        </p:txBody>
      </p:sp>
    </p:spTree>
    <p:extLst>
      <p:ext uri="{BB962C8B-B14F-4D97-AF65-F5344CB8AC3E}">
        <p14:creationId xmlns:p14="http://schemas.microsoft.com/office/powerpoint/2010/main" val="13854786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C74A7E88-F60E-4A13-AE5A-1B67ACF0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9125"/>
            <a:ext cx="1238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2850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Project schedule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5C7D6-8B83-4F32-BBD1-3DB54981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81100"/>
            <a:ext cx="1552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Proposed work periods. Review and submission dates follow the design plan.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81F285-A3F3-44F7-A1EA-644A7C5D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1676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DB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8E056-4748-44AC-A0B4-AB2D1CF6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97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Workstream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CAAE7-9AF2-425C-ABE1-256BDFE0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90725"/>
            <a:ext cx="5266472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E65E4-8070-42E3-BCFA-6A5D2E83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90725"/>
            <a:ext cx="5266472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October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50713-4861-450C-AE81-67998BCB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1972" y="1990725"/>
            <a:ext cx="5096586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30FEF-1A3D-4258-BD69-305B34F4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072" y="1990725"/>
            <a:ext cx="5096586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November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ED7858-E3F5-4578-AA8E-5AD7BA7A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8558" y="1990725"/>
            <a:ext cx="1019317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67C3D-09D8-42E3-B968-F2B3FCFB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658" y="1990725"/>
            <a:ext cx="10193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Dec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1A62A-9C26-4C69-8538-9BD4C59C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86050"/>
            <a:ext cx="9525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609CBE-461B-43F9-AF3D-70FE485B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352675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1 Oct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DB9C18-9F5D-4513-86DE-29E27CB3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703" y="2686050"/>
            <a:ext cx="9525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069EDD-0435-4124-A428-CF4C3973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2778" y="2352675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482728-F097-450D-B96E-925301ED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907" y="2686050"/>
            <a:ext cx="9525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AFDD80-3713-4219-8C39-7473F26F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982" y="2352675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5A5797-56DA-4E88-9250-D4FDFABE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10" y="2686050"/>
            <a:ext cx="9525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305511-2A52-4329-805E-4CF05EDA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185" y="2352675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22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88DEA7-1BF0-466E-AB5D-195096FF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2313" y="2686050"/>
            <a:ext cx="9525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2492DC-B4F5-409F-9073-9D9212BC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388" y="2352675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29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D3B680-D5D3-463A-A927-CC00882E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1517" y="2686050"/>
            <a:ext cx="9525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1857E8-3287-4351-89B3-FF2873E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9592" y="2352675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5 Nov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F019A9-B65C-4958-B4DE-FFBAC3E1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0720" y="2686050"/>
            <a:ext cx="9525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C7D841-79EB-492B-B323-1941AB96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8795" y="2352675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29DD6D-58C9-4E08-A1F2-482C14FC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9924" y="2686050"/>
            <a:ext cx="9525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575FA6-BF67-4A80-BA3F-6072E390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7999" y="2352675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19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0C38A2-3BB5-4CCE-B844-FF238BA1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9127" y="2686050"/>
            <a:ext cx="9525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075041-6F88-4158-BE0C-3BE5CF7F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7202" y="2352675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666291-7352-4913-ADE5-206143EF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8330" y="2686050"/>
            <a:ext cx="9525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31920D-2AE1-48D1-904C-518CA83F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6405" y="2352675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3 Dec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5E729F-8AA0-4732-A196-D05FBAFA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7875" y="2686050"/>
            <a:ext cx="9525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BAEDA8-1695-4DC3-83C8-7BC5E193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5950" y="2352675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F6EB7A-6B21-48D4-9972-917A1121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098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E3636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AE3636"/>
                </a:solidFill>
                <a:latin typeface="Nimbus Sans"/>
                <a:ea typeface="Nimbus Sans"/>
                <a:cs typeface="Nimbus Sans"/>
              </a:rPr>
              <a:t>Milestones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16E5A7-F0A0-41C1-9E5C-8D1BD290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978" y="2924175"/>
            <a:ext cx="171450" cy="171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AE3636"/>
          </a:solidFill>
          <a:ln xmlns:a="http://schemas.openxmlformats.org/drawingml/2006/main" w="9525">
            <a:solidFill>
              <a:srgbClr val="AE3636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88A0F0-A2E1-46DC-A090-4624A490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803" y="31527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E3636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AE3636"/>
                </a:solidFill>
                <a:latin typeface="Nimbus Sans"/>
                <a:ea typeface="Nimbus Sans"/>
                <a:cs typeface="Nimbus Sans"/>
              </a:rPr>
              <a:t>Design review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E662A6-A4AF-46CE-A144-BB0E3513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5792" y="2924175"/>
            <a:ext cx="171450" cy="171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AE3636"/>
          </a:solidFill>
          <a:ln xmlns:a="http://schemas.openxmlformats.org/drawingml/2006/main" w="9525">
            <a:solidFill>
              <a:srgbClr val="AE363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DCF8C9-BC16-41BE-BB38-CEE9BD68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7617" y="31527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E3636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AE3636"/>
                </a:solidFill>
                <a:latin typeface="Nimbus Sans"/>
                <a:ea typeface="Nimbus Sans"/>
                <a:cs typeface="Nimbus Sans"/>
              </a:rPr>
              <a:t>Timing review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449E2D-8BE0-4AE1-906E-7D7D7EDB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3402" y="2924175"/>
            <a:ext cx="171450" cy="171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AE3636"/>
          </a:solidFill>
          <a:ln xmlns:a="http://schemas.openxmlformats.org/drawingml/2006/main" w="9525">
            <a:solidFill>
              <a:srgbClr val="AE3636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322846-6955-470B-932E-CBFBE4F4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5227" y="31527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E3636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AE3636"/>
                </a:solidFill>
                <a:latin typeface="Nimbus Sans"/>
                <a:ea typeface="Nimbus Sans"/>
                <a:cs typeface="Nimbus Sans"/>
              </a:rPr>
              <a:t>Verification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3E7560-E64C-44B8-B4F8-0BF4C2DB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2150" y="2924175"/>
            <a:ext cx="171450" cy="171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AE3636"/>
          </a:solidFill>
          <a:ln xmlns:a="http://schemas.openxmlformats.org/drawingml/2006/main" w="9525">
            <a:solidFill>
              <a:srgbClr val="AE3636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163662-10AD-41CB-B1B1-9E23992A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315277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E3636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AE3636"/>
                </a:solidFill>
                <a:latin typeface="Nimbus Sans"/>
                <a:ea typeface="Nimbus Sans"/>
                <a:cs typeface="Nimbus Sans"/>
              </a:rPr>
              <a:t>Target submission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D09649-F4FA-41F1-AB8D-DACE0DB2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33775"/>
            <a:ext cx="16764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79FA41-5F4C-4829-A232-38B798E4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3377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C32FC2-8144-4B9B-95B6-2A244A46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703" y="353377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F217C8-6D9D-47C5-BE90-DBCE44C5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907" y="353377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764A9C-C438-482B-9E28-DA35AA4E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10" y="353377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FB0A836-D891-47E6-B77B-50F17B1B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2313" y="353377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070B3A-F3CB-4F51-985D-BAAF7F92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1517" y="353377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7C3F1C2-9EBF-43DD-96C0-DB6FB5B1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0720" y="353377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19EAF56-0841-4FA6-B994-71DEF399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9924" y="353377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BD22BE2-0C2C-4915-9439-7F5AF6D0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9127" y="353377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A3C706B-BE27-493C-8712-F7E03D56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8330" y="353377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AC90B11-D268-4D23-9494-50CDEE7A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7875" y="353377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0282689-A03C-47DA-A846-A8D702D4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Architecture &amp; experiment plan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A8D8992-D8C0-4C28-9685-2A28AE89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71900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Supply check, circuit review, error budget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66A3DA0-CF55-4D9B-BCB7-5EA04CCF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57600"/>
            <a:ext cx="1189203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0287E91-2B53-4D84-81A8-FFA50D50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978" y="3681413"/>
            <a:ext cx="171450" cy="171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AE3636"/>
          </a:solidFill>
          <a:ln xmlns:a="http://schemas.openxmlformats.org/drawingml/2006/main" w="9525">
            <a:solidFill>
              <a:srgbClr val="AE3636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D3F0FD5-4417-475A-8269-DF4DAD94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40001D0-E8E0-42E1-A2CE-D46DBA03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703" y="400050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10006A9-3603-42EA-853D-169CB04D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907" y="400050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A4FF9BE-3101-4943-93F2-EF735EF1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10" y="400050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E9EF386-C911-479F-A0DA-FE5FDF30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2313" y="400050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6F6006E-B7BD-492D-A45A-C0B56FB9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1517" y="400050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583D73C-C6FB-4AD2-94CC-A2C4B7EE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0720" y="400050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0CAFF52-D8CE-4DA5-A449-A138C7BA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9924" y="400050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72C275C-BD7D-4531-B73B-724DFD79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9127" y="400050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2B8BC0B-63D9-4EAF-BF54-4E524D5C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8330" y="400050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A3BB860-4887-4084-ABD9-CC197D0A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7875" y="400050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B2240DB-FB93-4A50-AB29-ED831C4F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909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DUT &amp; sampling-path integration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02E5A9C-4B53-4E86-B178-697B5D75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3862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Delay line, observers, divider, pin mapping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E14F806-F4E7-4815-BC75-4897CA8E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24325"/>
            <a:ext cx="4756813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B925BFA-56D4-40A0-B78B-2BADE1DF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67225"/>
            <a:ext cx="16764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793ED2A-617E-48E1-A786-69EE6B80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6722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0A2204B-3EF7-4510-9786-1C5D75F4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703" y="446722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3D7FD89-8FF0-40F2-8BB6-DDE72DAD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907" y="446722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DF19045-7DE8-484F-9439-F1D1A5F3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10" y="446722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4C4C9C0-6F00-4C39-B8FE-8EB8FAE5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2313" y="446722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D3D9C8C-3BFB-4C93-89A0-514504A1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1517" y="446722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ED3B1DA-D41B-4B46-AFBB-03D1CDF8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0720" y="446722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A71F522-DCF9-4063-BB92-8897867A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9924" y="446722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57761DB-0B63-4889-871B-C3C09551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9127" y="446722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8CC7F60-7999-46EF-BF6C-5E05EB34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8330" y="446722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609B6D4-5FB0-463E-A4E0-C705D056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7875" y="446722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B129D8D-958D-40AF-950C-29009A94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577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Control &amp; readout RTL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5E7E353-AF67-4D4A-B2A5-97A9CD2C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05350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Sequencer, counters, held-count output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B329BEC-0CAC-47EA-9E07-44CDAF2A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91050"/>
            <a:ext cx="4756813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75F2E69-6ADA-42E3-9384-FD9E5B2E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3395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F4140F5-2783-481D-9E1C-6B821D18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703" y="493395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C609854-24BE-4F4C-A6AF-7071EE43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907" y="493395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9277E4A-0CE3-4D06-921D-9AE7A213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10" y="493395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3E8CB3A-EAB6-4370-8DE6-E69D7AEE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2313" y="493395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7DCE686-A8EC-4A11-8F97-45D8F590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1517" y="493395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2F66636-A3C3-4250-A25A-6E7C5349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0720" y="493395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EC4096A-6B09-42ED-BB81-F8648248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9924" y="493395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67542FE-37E7-41DE-BEB9-24669B66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9127" y="493395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AAF36D2-CF8B-4767-B166-62A740FE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8330" y="493395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79F277E-20DA-4864-9470-603166FD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7875" y="493395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DA1F2FC-E7F7-4523-877F-59E05506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244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Delay &amp; timing validation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7460003-6B31-4C87-BF26-593821ED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720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Sampling delays, calibration, SPICE checks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916F852-5469-4EB1-933D-55ADC178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4590" y="5057775"/>
            <a:ext cx="4586927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CA21622-8F4C-4368-8573-38CC5F1E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5792" y="5081588"/>
            <a:ext cx="171450" cy="171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AE3636"/>
          </a:solidFill>
          <a:ln xmlns:a="http://schemas.openxmlformats.org/drawingml/2006/main" w="9525">
            <a:solidFill>
              <a:srgbClr val="AE3636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1EC7AEA-8142-4EAB-864C-A592F357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00675"/>
            <a:ext cx="16764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4C8985C-9F6D-48A2-B993-58019198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0067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D6C916F-E781-47EC-93B4-A2ED245B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703" y="540067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D3A9D43-9D98-4B34-AC01-E618AA85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907" y="540067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8144B3C-F77A-445F-B8A4-67478844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10" y="540067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3FDF852-E342-4EB1-BB72-ED14DDF6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2313" y="540067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C928C03-A84B-48C7-A060-7189FCB5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1517" y="540067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37BAFEC-0F2E-4721-90C0-23310A9F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0720" y="540067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C9446B0-6B52-44DE-97A0-6222E726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9924" y="540067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2FE73EC-AA58-4BD0-B033-99856683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9127" y="540067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12278D5-E56E-4658-A1E2-CB4BA262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8330" y="540067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98FA394-A188-4B21-8EE6-EAFA8AF7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7875" y="540067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A2088A8-65D1-45AC-97C0-457A1758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911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Full-system verification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2068D4F-34B1-4435-A15E-9257D3CD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38800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RTL integration and cocotb tests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3E9DD71-90B9-41D8-BF26-7C2D0E63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907" y="5524500"/>
            <a:ext cx="713522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A76AAEA-C756-4F6E-8938-FE815B14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3402" y="5548313"/>
            <a:ext cx="171450" cy="171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AE3636"/>
          </a:solidFill>
          <a:ln xmlns:a="http://schemas.openxmlformats.org/drawingml/2006/main" w="9525">
            <a:solidFill>
              <a:srgbClr val="AE3636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1C36931-9210-4B73-B4AA-0D21FE7B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86740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7410C99-7BBF-4512-9BF5-2F15ECB4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703" y="586740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7707D76-1767-4F8C-9C31-C75FF139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907" y="586740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9CF9FC3-D7AD-4EF1-A97A-E8A0DE0E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10" y="586740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5DB1AC3-EE94-45BD-931F-E9C55838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2313" y="586740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9C75A37-5323-4416-9133-1C9A53FB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1517" y="586740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DEF9B27-20CA-4B01-839F-C5D907B1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0720" y="586740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E18A478-8AF7-43AC-921F-C3D1E446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9924" y="586740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DD764D1-A01F-4181-8297-66EB2AB2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9127" y="586740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914E9B6-63EC-4EBF-9E53-FE0AD411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8330" y="586740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E3F8EB9-4857-49F8-A13E-24910356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7875" y="586740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2C4BE14-B3FA-4389-BC9B-AD0FC2E1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578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Layout &amp; final timing checks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86BA99D-0463-456C-BDD9-34ABFD8D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0552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Preserve DUT cells and check routed timing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62923B4-89CE-45F6-9E98-BEF38FDC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1403" y="5991225"/>
            <a:ext cx="4586927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9F457E2-92D2-41EB-AA5F-C8426307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334125"/>
            <a:ext cx="16764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2B53BF2-1239-4316-94F0-5B8E7C8C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33412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4BD917C-E15F-4795-9328-E25292EF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703" y="633412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657D967-804B-424D-B250-D65BCC5A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907" y="633412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314E424-8514-4768-9F80-AF078A4D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10" y="633412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B648B75-6279-418A-A0A1-27C122E6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2313" y="633412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340D071-3982-49D4-8FE4-6FACD746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1517" y="633412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EC53497-5C58-4798-AFF0-9C0D1197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0720" y="633412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3785167-3807-4C32-9B8C-B64DDEEA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9924" y="633412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8F2294C-348F-4BA7-A55B-CF067217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9127" y="633412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748DC95-A368-4C9E-8D87-678448CA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8330" y="633412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87F268B-BE7B-42C0-97D9-B6F73FC8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7875" y="633412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noFill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5883B49-E872-432C-8699-84FDB632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3246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3030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Submission preparation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5FF5233-0472-4C54-8DC1-9652EBD4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72250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Final checks, design files, documentation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22D6D1E-B36B-48AB-82A6-3C63231F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9013" y="6457950"/>
            <a:ext cx="1698862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B582113-027A-4211-87E5-E21FFAAE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2150" y="6481763"/>
            <a:ext cx="171450" cy="171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AE3636"/>
          </a:solidFill>
          <a:ln xmlns:a="http://schemas.openxmlformats.org/drawingml/2006/main" w="9525">
            <a:solidFill>
              <a:srgbClr val="AE3636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E49D6BF-1A80-431A-837B-1E13B609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7019925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F696B7C3-7803-40D8-B735-A5F58CD6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9056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Proposed work period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D78F07B6-E720-4AF2-ACA5-84731130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6991350"/>
            <a:ext cx="171450" cy="171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AE3636"/>
          </a:solidFill>
          <a:ln xmlns:a="http://schemas.openxmlformats.org/drawingml/2006/main" w="9525">
            <a:solidFill>
              <a:srgbClr val="AE3636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CC450CF-BB17-45B3-8A93-52BE7203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9056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96969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Review / submission milestone</a:t>
            </a:r>
          </a:p>
        </p:txBody>
      </p:sp>
      <p:sp xmlns:a="http://schemas.openxmlformats.org/drawingml/2006/main">
        <p:nvSpPr>
          <p:cNvPr id="201" name="checkpoint shape"/>
          <p:cNvSpPr/>
          <p:nvPr/>
        </p:nvSpPr>
        <p:spPr>
          <a:xfrm>
            <a:off x="809625" y="7486650"/>
            <a:ext cx="16764000" cy="9525"/>
          </a:xfrm>
          <a:prstGeom prst="rect">
            <a:avLst/>
          </a:prstGeom>
          <a:solidFill>
            <a:srgbClr val="DADADA"/>
          </a:solidFill>
          <a:ln w="0">
            <a:noFill/>
          </a:ln>
        </p:spPr>
      </p:sp>
      <p:sp xmlns:a="http://schemas.openxmlformats.org/drawingml/2006/main">
        <p:nvSpPr>
          <p:cNvPr id="202" name="checkpoint text"/>
          <p:cNvSpPr txBox="1"/>
          <p:nvPr/>
        </p:nvSpPr>
        <p:spPr>
          <a:xfrm>
            <a:off x="901065" y="7800975"/>
            <a:ext cx="4286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875" b="0">
                <a:solidFill>
                  <a:srgbClr val="AE3636"/>
                </a:solidFill>
                <a:latin typeface="Nimbus Sans"/>
                <a:ea typeface="Nimbus Sans"/>
                <a:cs typeface="Nimbus Sans"/>
              </a:rPr>
              <a:t>Checkpoints</a:t>
            </a:r>
          </a:p>
        </p:txBody>
      </p:sp>
      <p:sp xmlns:a="http://schemas.openxmlformats.org/drawingml/2006/main">
        <p:nvSpPr>
          <p:cNvPr id="203" name="checkpoint text"/>
          <p:cNvSpPr txBox="1"/>
          <p:nvPr/>
        </p:nvSpPr>
        <p:spPr>
          <a:xfrm>
            <a:off x="901065" y="8220075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350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What each review must show</a:t>
            </a:r>
          </a:p>
        </p:txBody>
      </p:sp>
      <p:sp xmlns:a="http://schemas.openxmlformats.org/drawingml/2006/main">
        <p:nvSpPr>
          <p:cNvPr id="204" name="checkpoint shape"/>
          <p:cNvSpPr/>
          <p:nvPr/>
        </p:nvSpPr>
        <p:spPr>
          <a:xfrm>
            <a:off x="5905500" y="7772400"/>
            <a:ext cx="2695575" cy="182880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 w="0">
            <a:noFill/>
          </a:ln>
        </p:spPr>
      </p:sp>
      <p:sp xmlns:a="http://schemas.openxmlformats.org/drawingml/2006/main">
        <p:nvSpPr>
          <p:cNvPr id="205" name="checkpoint shape"/>
          <p:cNvSpPr/>
          <p:nvPr/>
        </p:nvSpPr>
        <p:spPr>
          <a:xfrm>
            <a:off x="6096000" y="7962900"/>
            <a:ext cx="171450" cy="171450"/>
          </a:xfrm>
          <a:prstGeom prst="diamond">
            <a:avLst/>
          </a:prstGeom>
          <a:solidFill>
            <a:srgbClr val="AE3636"/>
          </a:solidFill>
          <a:ln w="0">
            <a:noFill/>
          </a:ln>
        </p:spPr>
      </p:sp>
      <p:sp xmlns:a="http://schemas.openxmlformats.org/drawingml/2006/main">
        <p:nvSpPr>
          <p:cNvPr id="206" name="checkpoint text"/>
          <p:cNvSpPr txBox="1"/>
          <p:nvPr/>
        </p:nvSpPr>
        <p:spPr>
          <a:xfrm>
            <a:off x="6362700" y="7915275"/>
            <a:ext cx="20478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2000" b="1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8 Oct</a:t>
            </a:r>
          </a:p>
        </p:txBody>
      </p:sp>
      <p:sp xmlns:a="http://schemas.openxmlformats.org/drawingml/2006/main">
        <p:nvSpPr>
          <p:cNvPr id="207" name="checkpoint text"/>
          <p:cNvSpPr txBox="1"/>
          <p:nvPr/>
        </p:nvSpPr>
        <p:spPr>
          <a:xfrm>
            <a:off x="6096000" y="8343900"/>
            <a:ext cx="23145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500" b="0">
                <a:solidFill>
                  <a:srgbClr val="AE3636"/>
                </a:solidFill>
                <a:latin typeface="Nimbus Sans"/>
                <a:ea typeface="Nimbus Sans"/>
                <a:cs typeface="Nimbus Sans"/>
              </a:rPr>
              <a:t>Design review</a:t>
            </a:r>
          </a:p>
        </p:txBody>
      </p:sp>
      <p:sp xmlns:a="http://schemas.openxmlformats.org/drawingml/2006/main">
        <p:nvSpPr>
          <p:cNvPr id="208" name="checkpoint text"/>
          <p:cNvSpPr txBox="1"/>
          <p:nvPr/>
        </p:nvSpPr>
        <p:spPr>
          <a:xfrm>
            <a:off x="6096000" y="8705850"/>
            <a:ext cx="2314575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425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Architecture, experiment plan and error budget agreed</a:t>
            </a:r>
          </a:p>
        </p:txBody>
      </p:sp>
      <p:sp xmlns:a="http://schemas.openxmlformats.org/drawingml/2006/main">
        <p:nvSpPr>
          <p:cNvPr id="209" name="checkpoint shape"/>
          <p:cNvSpPr/>
          <p:nvPr/>
        </p:nvSpPr>
        <p:spPr>
          <a:xfrm>
            <a:off x="8829675" y="7772400"/>
            <a:ext cx="2695575" cy="182880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 w="0">
            <a:noFill/>
          </a:ln>
        </p:spPr>
      </p:sp>
      <p:sp xmlns:a="http://schemas.openxmlformats.org/drawingml/2006/main">
        <p:nvSpPr>
          <p:cNvPr id="210" name="checkpoint shape"/>
          <p:cNvSpPr/>
          <p:nvPr/>
        </p:nvSpPr>
        <p:spPr>
          <a:xfrm>
            <a:off x="9020175" y="7962900"/>
            <a:ext cx="171450" cy="171450"/>
          </a:xfrm>
          <a:prstGeom prst="diamond">
            <a:avLst/>
          </a:prstGeom>
          <a:solidFill>
            <a:srgbClr val="AE3636"/>
          </a:solidFill>
          <a:ln w="0">
            <a:noFill/>
          </a:ln>
        </p:spPr>
      </p:sp>
      <p:sp xmlns:a="http://schemas.openxmlformats.org/drawingml/2006/main">
        <p:nvSpPr>
          <p:cNvPr id="211" name="checkpoint text"/>
          <p:cNvSpPr txBox="1"/>
          <p:nvPr/>
        </p:nvSpPr>
        <p:spPr>
          <a:xfrm>
            <a:off x="9286875" y="7915275"/>
            <a:ext cx="20478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2000" b="1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5 Nov</a:t>
            </a:r>
          </a:p>
        </p:txBody>
      </p:sp>
      <p:sp xmlns:a="http://schemas.openxmlformats.org/drawingml/2006/main">
        <p:nvSpPr>
          <p:cNvPr id="212" name="checkpoint text"/>
          <p:cNvSpPr txBox="1"/>
          <p:nvPr/>
        </p:nvSpPr>
        <p:spPr>
          <a:xfrm>
            <a:off x="9020175" y="8343900"/>
            <a:ext cx="23145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500" b="0">
                <a:solidFill>
                  <a:srgbClr val="AE3636"/>
                </a:solidFill>
                <a:latin typeface="Nimbus Sans"/>
                <a:ea typeface="Nimbus Sans"/>
                <a:cs typeface="Nimbus Sans"/>
              </a:rPr>
              <a:t>Timing review</a:t>
            </a:r>
          </a:p>
        </p:txBody>
      </p:sp>
      <p:sp xmlns:a="http://schemas.openxmlformats.org/drawingml/2006/main">
        <p:nvSpPr>
          <p:cNvPr id="213" name="checkpoint text"/>
          <p:cNvSpPr txBox="1"/>
          <p:nvPr/>
        </p:nvSpPr>
        <p:spPr>
          <a:xfrm>
            <a:off x="9020175" y="8705850"/>
            <a:ext cx="2314575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425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Sampling delays and calibration validated in SPICE</a:t>
            </a:r>
          </a:p>
        </p:txBody>
      </p:sp>
      <p:sp xmlns:a="http://schemas.openxmlformats.org/drawingml/2006/main">
        <p:nvSpPr>
          <p:cNvPr id="214" name="checkpoint shape"/>
          <p:cNvSpPr/>
          <p:nvPr/>
        </p:nvSpPr>
        <p:spPr>
          <a:xfrm>
            <a:off x="11753850" y="7772400"/>
            <a:ext cx="2695575" cy="182880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 w="0">
            <a:noFill/>
          </a:ln>
        </p:spPr>
      </p:sp>
      <p:sp xmlns:a="http://schemas.openxmlformats.org/drawingml/2006/main">
        <p:nvSpPr>
          <p:cNvPr id="215" name="checkpoint shape"/>
          <p:cNvSpPr/>
          <p:nvPr/>
        </p:nvSpPr>
        <p:spPr>
          <a:xfrm>
            <a:off x="11944350" y="7962900"/>
            <a:ext cx="171450" cy="171450"/>
          </a:xfrm>
          <a:prstGeom prst="diamond">
            <a:avLst/>
          </a:prstGeom>
          <a:solidFill>
            <a:srgbClr val="AE3636"/>
          </a:solidFill>
          <a:ln w="0">
            <a:noFill/>
          </a:ln>
        </p:spPr>
      </p:sp>
      <p:sp xmlns:a="http://schemas.openxmlformats.org/drawingml/2006/main">
        <p:nvSpPr>
          <p:cNvPr id="216" name="checkpoint text"/>
          <p:cNvSpPr txBox="1"/>
          <p:nvPr/>
        </p:nvSpPr>
        <p:spPr>
          <a:xfrm>
            <a:off x="12211050" y="7915275"/>
            <a:ext cx="20478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2000" b="1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26 Nov</a:t>
            </a:r>
          </a:p>
        </p:txBody>
      </p:sp>
      <p:sp xmlns:a="http://schemas.openxmlformats.org/drawingml/2006/main">
        <p:nvSpPr>
          <p:cNvPr id="217" name="checkpoint text"/>
          <p:cNvSpPr txBox="1"/>
          <p:nvPr/>
        </p:nvSpPr>
        <p:spPr>
          <a:xfrm>
            <a:off x="11944350" y="8343900"/>
            <a:ext cx="23145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500" b="0">
                <a:solidFill>
                  <a:srgbClr val="AE3636"/>
                </a:solidFill>
                <a:latin typeface="Nimbus Sans"/>
                <a:ea typeface="Nimbus Sans"/>
                <a:cs typeface="Nimbus Sans"/>
              </a:rPr>
              <a:t>Verification</a:t>
            </a:r>
          </a:p>
        </p:txBody>
      </p:sp>
      <p:sp xmlns:a="http://schemas.openxmlformats.org/drawingml/2006/main">
        <p:nvSpPr>
          <p:cNvPr id="218" name="checkpoint text"/>
          <p:cNvSpPr txBox="1"/>
          <p:nvPr/>
        </p:nvSpPr>
        <p:spPr>
          <a:xfrm>
            <a:off x="11944350" y="8705850"/>
            <a:ext cx="2314575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425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Full system passes integrated RTL tests</a:t>
            </a:r>
          </a:p>
        </p:txBody>
      </p:sp>
      <p:sp xmlns:a="http://schemas.openxmlformats.org/drawingml/2006/main">
        <p:nvSpPr>
          <p:cNvPr id="219" name="checkpoint shape"/>
          <p:cNvSpPr/>
          <p:nvPr/>
        </p:nvSpPr>
        <p:spPr>
          <a:xfrm>
            <a:off x="14678025" y="7772400"/>
            <a:ext cx="2695575" cy="182880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 w="0">
            <a:noFill/>
          </a:ln>
        </p:spPr>
      </p:sp>
      <p:sp xmlns:a="http://schemas.openxmlformats.org/drawingml/2006/main">
        <p:nvSpPr>
          <p:cNvPr id="220" name="checkpoint shape"/>
          <p:cNvSpPr/>
          <p:nvPr/>
        </p:nvSpPr>
        <p:spPr>
          <a:xfrm>
            <a:off x="14868525" y="7962900"/>
            <a:ext cx="171450" cy="171450"/>
          </a:xfrm>
          <a:prstGeom prst="diamond">
            <a:avLst/>
          </a:prstGeom>
          <a:solidFill>
            <a:srgbClr val="AE3636"/>
          </a:solidFill>
          <a:ln w="0">
            <a:noFill/>
          </a:ln>
        </p:spPr>
      </p:sp>
      <p:sp xmlns:a="http://schemas.openxmlformats.org/drawingml/2006/main">
        <p:nvSpPr>
          <p:cNvPr id="221" name="checkpoint text"/>
          <p:cNvSpPr txBox="1"/>
          <p:nvPr/>
        </p:nvSpPr>
        <p:spPr>
          <a:xfrm>
            <a:off x="15135225" y="7915275"/>
            <a:ext cx="20478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2000" b="1">
                <a:solidFill>
                  <a:srgbClr val="303030"/>
                </a:solidFill>
                <a:latin typeface="Nimbus Sans"/>
                <a:ea typeface="Nimbus Sans"/>
                <a:cs typeface="Nimbus Sans"/>
              </a:rPr>
              <a:t>7 Dec</a:t>
            </a:r>
          </a:p>
        </p:txBody>
      </p:sp>
      <p:sp xmlns:a="http://schemas.openxmlformats.org/drawingml/2006/main">
        <p:nvSpPr>
          <p:cNvPr id="222" name="checkpoint text"/>
          <p:cNvSpPr txBox="1"/>
          <p:nvPr/>
        </p:nvSpPr>
        <p:spPr>
          <a:xfrm>
            <a:off x="14868525" y="8343900"/>
            <a:ext cx="23145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500" b="0">
                <a:solidFill>
                  <a:srgbClr val="AE3636"/>
                </a:solidFill>
                <a:latin typeface="Nimbus Sans"/>
                <a:ea typeface="Nimbus Sans"/>
                <a:cs typeface="Nimbus Sans"/>
              </a:rPr>
              <a:t>Target submission</a:t>
            </a:r>
          </a:p>
        </p:txBody>
      </p:sp>
      <p:sp xmlns:a="http://schemas.openxmlformats.org/drawingml/2006/main">
        <p:nvSpPr>
          <p:cNvPr id="223" name="checkpoint text"/>
          <p:cNvSpPr txBox="1"/>
          <p:nvPr/>
        </p:nvSpPr>
        <p:spPr>
          <a:xfrm>
            <a:off x="14868525" y="8705850"/>
            <a:ext cx="2314575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425" b="0">
                <a:solidFill>
                  <a:srgbClr val="696969"/>
                </a:solidFill>
                <a:latin typeface="Nimbus Sans"/>
                <a:ea typeface="Nimbus Sans"/>
                <a:cs typeface="Nimbus Sans"/>
              </a:rPr>
              <a:t>Final checks done; design files and documentation submitted</a:t>
            </a:r>
          </a:p>
        </p:txBody>
      </p:sp>
    </p:spTree>
    <p:extLst>
      <p:ext uri="{BB962C8B-B14F-4D97-AF65-F5344CB8AC3E}">
        <p14:creationId xmlns:p14="http://schemas.microsoft.com/office/powerpoint/2010/main" val="16052035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2026-09-30T22:36:41.2940000Z</dcterms:created>
  <dcterms:modified xsi:type="dcterms:W3CDTF">2026-09-30T22:36:41.2940000Z</dcterms:modified>
</coreProperties>
</file>